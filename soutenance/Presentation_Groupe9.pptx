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E8B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Analysées</c:v>
                  </c:pt>
                  <c:pt idx="1">
                    <c:v>Valides</c:v>
                  </c:pt>
                  <c:pt idx="2">
                    <c:v>Lues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124751</c:v>
                </c:pt>
                <c:pt idx="1">
                  <c:v>136157</c:v>
                </c:pt>
                <c:pt idx="2">
                  <c:v>138047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F6B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Chiffre d'affaires</c:v>
                </c:pt>
              </c:strCache>
            </c:strRef>
          </c:tx>
          <c:spPr>
            <a:solidFill>
              <a:srgbClr val="2E8B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621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TechStore 112</c:v>
                  </c:pt>
                  <c:pt idx="1">
                    <c:v>ElectroWorld 559</c:v>
                  </c:pt>
                  <c:pt idx="2">
                    <c:v>TechStore 225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468136</c:v>
                </c:pt>
                <c:pt idx="1">
                  <c:v>522206</c:v>
                </c:pt>
                <c:pt idx="2">
                  <c:v>568073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6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Rétention</c:v>
                </c:pt>
              </c:strCache>
            </c:strRef>
          </c:tx>
          <c:spPr>
            <a:solidFill>
              <a:srgbClr val="2E8B76"/>
            </a:solidFill>
            <a:ln w="38100" cap="flat">
              <a:solidFill>
                <a:srgbClr val="2E8B7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F6B6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76"/>
              </a:solidFill>
              <a:ln w="9525" cap="flat">
                <a:solidFill>
                  <a:srgbClr val="2E8B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M+0</c:v>
                  </c:pt>
                  <c:pt idx="1">
                    <c:v>M+1</c:v>
                  </c:pt>
                  <c:pt idx="2">
                    <c:v>M+2</c:v>
                  </c:pt>
                  <c:pt idx="3">
                    <c:v>M+3</c:v>
                  </c:pt>
                  <c:pt idx="4">
                    <c:v>M+4</c:v>
                  </c:pt>
                  <c:pt idx="5">
                    <c:v>M+5</c:v>
                  </c:pt>
                  <c:pt idx="6">
                    <c:v>M+6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61.3</c:v>
                </c:pt>
                <c:pt idx="2">
                  <c:v>48.7</c:v>
                </c:pt>
                <c:pt idx="3">
                  <c:v>38.1</c:v>
                </c:pt>
                <c:pt idx="4">
                  <c:v>33.9</c:v>
                </c:pt>
                <c:pt idx="5">
                  <c:v>30.2</c:v>
                </c:pt>
                <c:pt idx="6">
                  <c:v>27.4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5F6B6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VIP</c:v>
                </c:pt>
              </c:strCache>
            </c:strRef>
          </c:tx>
          <c:spPr>
            <a:solidFill>
              <a:srgbClr val="0F3D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Perdus</c:v>
                  </c:pt>
                  <c:pt idx="1">
                    <c:v>Nouveaux</c:v>
                  </c:pt>
                  <c:pt idx="2">
                    <c:v>À risque</c:v>
                  </c:pt>
                  <c:pt idx="3">
                    <c:v>Clients fidèles</c:v>
                  </c:pt>
                  <c:pt idx="4">
                    <c:v>Champions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18</c:v>
                </c:pt>
                <c:pt idx="2">
                  <c:v>287</c:v>
                </c:pt>
                <c:pt idx="3">
                  <c:v>266</c:v>
                </c:pt>
                <c:pt idx="4">
                  <c:v>451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2E8B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Perdus</c:v>
                  </c:pt>
                  <c:pt idx="1">
                    <c:v>Nouveaux</c:v>
                  </c:pt>
                  <c:pt idx="2">
                    <c:v>À risque</c:v>
                  </c:pt>
                  <c:pt idx="3">
                    <c:v>Clients fidèles</c:v>
                  </c:pt>
                  <c:pt idx="4">
                    <c:v>Champions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</c:v>
                </c:pt>
                <c:pt idx="1">
                  <c:v>146</c:v>
                </c:pt>
                <c:pt idx="2">
                  <c:v>726</c:v>
                </c:pt>
                <c:pt idx="3">
                  <c:v>854</c:v>
                </c:pt>
                <c:pt idx="4">
                  <c:v>613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rgbClr val="7FC8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Perdus</c:v>
                  </c:pt>
                  <c:pt idx="1">
                    <c:v>Nouveaux</c:v>
                  </c:pt>
                  <c:pt idx="2">
                    <c:v>À risque</c:v>
                  </c:pt>
                  <c:pt idx="3">
                    <c:v>Clients fidèles</c:v>
                  </c:pt>
                  <c:pt idx="4">
                    <c:v>Champions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653</c:v>
                </c:pt>
                <c:pt idx="1">
                  <c:v>618</c:v>
                </c:pt>
                <c:pt idx="2">
                  <c:v>866</c:v>
                </c:pt>
                <c:pt idx="3">
                  <c:v>1305</c:v>
                </c:pt>
                <c:pt idx="4">
                  <c:v>272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DE7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Perdus</c:v>
                  </c:pt>
                  <c:pt idx="1">
                    <c:v>Nouveaux</c:v>
                  </c:pt>
                  <c:pt idx="2">
                    <c:v>À risque</c:v>
                  </c:pt>
                  <c:pt idx="3">
                    <c:v>Clients fidèles</c:v>
                  </c:pt>
                  <c:pt idx="4">
                    <c:v>Champions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1160</c:v>
                </c:pt>
                <c:pt idx="1">
                  <c:v>724</c:v>
                </c:pt>
                <c:pt idx="2">
                  <c:v>317</c:v>
                </c:pt>
                <c:pt idx="3">
                  <c:v>816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F6B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Sans optimisations</c:v>
                </c:pt>
              </c:strCache>
            </c:strRef>
          </c:tx>
          <c:spPr>
            <a:solidFill>
              <a:srgbClr val="7FC8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Ingestion</c:v>
                  </c:pt>
                  <c:pt idx="1">
                    <c:v>Qualité</c:v>
                  </c:pt>
                  <c:pt idx="2">
                    <c:v>Analytique</c:v>
                  </c:pt>
                  <c:pt idx="3">
                    <c:v>Écriture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15.6</c:v>
                </c:pt>
                <c:pt idx="1">
                  <c:v>13.5</c:v>
                </c:pt>
                <c:pt idx="2">
                  <c:v>95.8</c:v>
                </c:pt>
                <c:pt idx="3">
                  <c:v>364.2</c:v>
                </c:pt>
                <c:pt idx="4">
                  <c:v>498.9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Avec optimisations</c:v>
                </c:pt>
              </c:strCache>
            </c:strRef>
          </c:tx>
          <c:spPr>
            <a:solidFill>
              <a:srgbClr val="1B5C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Ingestion</c:v>
                  </c:pt>
                  <c:pt idx="1">
                    <c:v>Qualité</c:v>
                  </c:pt>
                  <c:pt idx="2">
                    <c:v>Analytique</c:v>
                  </c:pt>
                  <c:pt idx="3">
                    <c:v>Écriture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</c:v>
                </c:pt>
                <c:pt idx="1">
                  <c:v>6.1</c:v>
                </c:pt>
                <c:pt idx="2">
                  <c:v>22.5</c:v>
                </c:pt>
                <c:pt idx="3">
                  <c:v>31.3</c:v>
                </c:pt>
                <c:pt idx="4">
                  <c:v>75.6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6A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F6B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30 secondes. Se presenter, annoncer le plan : contexte, donnees, architecture, puis un expose par membre, puis la demonstration. Preciser d emblee que les donnees sont synthetiques et que la demonstration se termine par un tableau de bord genere par le pipeline lui meme.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45 secondes. Insister : la qualite vient avant le chiffre d affaires. Annoncer l egalite de reconciliation, on la detaille en slide 7 avec le detail des deux notions de rejet.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60 secondes. Montrer que chaque format impose une strategie de lecture differente. Si le jury demande pourquoi les donnees sont hors du JAR : pour rester remplacables et accessibles aux executeurs sur un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75 secondes. Le vocabulaire Bronze Silver Gold est celui du metier : il rend le lignage lisible sans expliquer Spark. Montrer MainApp : la session est creee une seule fois et finally libere le cache puis arrete Spark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90 secondes. Expliquer les interfaces qui font tenir l ensemble : Sources, ValidationResult et Enrichment. Ce sont ces trois types qui permettent a chacun de travailler sans casser le module du voisin. Mentionner uniquement les relectures reellement effectuees.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Eudoxie, 2 minutes 30. Montrer read, le try catch et le message d erreur contextualise. Expliquer pourquoi users.json est lu avec un schema type plutot qu en inference : le champ preferred_categories est un tableau, l inference sur un fichier partiel donnerait un type instable.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Eudoxie, 2 minutes 30. Ouvrir un CSV de rejets et commenter une ligne reelle. Preciser que les compteurs d orphelins peuvent se recouper : une meme transaction peut pointer vers un utilisateur absent et un produit absent, elle est comptee dans les deux.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Issouf, 1 minute 30. Montrer TimeFeatures.scala. Insister sur orNull : l UDF retourne une structure ou null, elle ne leve jamais d exception. Montrer le test qui verifie les frontieres a 21h59, 22h00 et minuit.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Issouf, 2 minutes. Si le jury demande pourquoi les jointures sont en left : parce qu une reference manquante doit etre expliquee avant d etre exclue, pas supprimee par un inner join silencieux. La verification require(retenues + rejetees == valides) garantit qu aucune ligne n est dupliquee ni perdue.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Issouf, 1 minute 30. Point cle a defendre : la moyenne historique n utilise que les achats strictement anterieurs, sans anticipation. Sans historique, le premier critere ne s active pas, mais les trois autres peuvent suffire. Rappeler que la regle est pedagogique, pas un modele de fraude valide.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Josias, 1 minute 30. Expliquer pourquoi le merchant_id de la transaction fait foi pour le chiffre d affaires, et non celui du catalogue produit : 512 divergences sont signalees par catalog_merchant_mismatch plutot que corrigees en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Josias, 1 minute 30. Expliquer la grille : on genere explicitement les couples cohorte et mois observable, puis on joint l activite en left, et un mois sans achat vaut zero. Sans cette grille, un mois creux disparaitrait au lieu de valoir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Josias, 1 minute 30. Les regles de segmentation sont les notres et sont documentees dans CONTRIBUTIONS.md, dans leur ordre d application. Assumer que Clients fideles est une classe residuelle, c est une convention simplifiee.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Josias, 2 minutes. C est la slide ou l on gagne des points en etant honnete. La transformation est plus lente avec optimisations parce que le cache y materialise un travail que le mode sans repousse plus loin. Nous montrons la mesure telle qu elle 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2 minutes. Lancer la commande, puis ouvrir output/dashboard.html par double clic. Commenter deux resultats metier : la concentration du chiffre d affaires sur les marchands Electronics, et la coherence entre segment RFM calcule et segment declare. Rappeler que la page est regeneree a chaque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90 secondes. Preciser honnetement : la voie Docker est documentee a partir des images officielles Apache Spark et SBT, elle n a pas encore ete executee sur notre poste faute de demon Docker demarre. Le deploiement cluster est de meme documente mais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60 secondes. Cette slide desamorce la moitie des questions du jury. Annoncer ces limites nous meme vaut mieux que de les subir. Chacune est deja ecrite dans COUVERTURE_SUJET.md, section Limites declarees.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Collectif, puis dix minutes de questions. Rappel important : chaque membre peut etre interroge sur le code d un autre. Reviser en priorite les trois points ecrits par quelqu un d autre que vous : la difference entre les deux notions de rejet, le choix de rangeBetween sur des secondes, et l exclusion des horizons non observables dans la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09160" cy="6858000"/>
          </a:xfrm>
          <a:prstGeom prst="roundRect">
            <a:avLst>
              <a:gd name="adj" fmla="val 388"/>
            </a:avLst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1371600"/>
            <a:ext cx="3291840" cy="3291840"/>
          </a:xfrm>
          <a:prstGeom prst="roundRect">
            <a:avLst>
              <a:gd name="adj" fmla="val 15278"/>
            </a:avLst>
          </a:prstGeom>
          <a:solidFill>
            <a:srgbClr val="2E8B76"/>
          </a:solidFill>
          <a:ln w="12700">
            <a:solidFill>
              <a:srgbClr val="2E8B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920240"/>
            <a:ext cx="2194560" cy="2194560"/>
          </a:xfrm>
          <a:prstGeom prst="ellipse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124 751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analysées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5029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3.5.6   ·   Scala 2.12   ·   Java 17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</a:t>
            </a:r>
            <a:endParaRPr lang="en-US" sz="4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560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COMMERCE</a:t>
            </a:r>
            <a:endParaRPr lang="en-US" sz="43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1280160" cy="41148"/>
          </a:xfrm>
          <a:prstGeom prst="rect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B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Spark qui explique ses rejets, mesure la fidélité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B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publie lui même son tableau de bord.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310896" cy="310896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690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ABOUTA Eudoxie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690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et plateforme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276088"/>
            <a:ext cx="310896" cy="310896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5257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Issouf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257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310896" cy="310896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843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5824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824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 et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posé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fichiers hétérogènes, volontairement sales, à transformer en décisions défendables.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1828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problème de volume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042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 transactions tiennent sur un poste. Le vrai sujet est la confiance.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288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1828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chiffre faux coûte cher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3042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montant invalide fausse le chiffre d'affaires, la commission et le classement.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8288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05088" y="1828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principe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3042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ligne ne disparaît en silence. Chaque rejet porte son motif.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5204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97280" y="37398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LUES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544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sources réunies, avant tout contrôle.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35204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7398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13 296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ÉCARTÉES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544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Rejets de validation et références non enrichissables.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35204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37398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124 751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ANALYSÉES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544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sur lequel repose chaque indicateur.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  =  1 890  +  11 406  +  124 751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générées par le script du sujet. Les conclusions illustrent la méthode, elles ne décrivent pas une entreprise réelle.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sources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format différent par source : le pipeline doit typer, pas deviner.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874520"/>
            <a:ext cx="1938528" cy="822960"/>
          </a:xfrm>
          <a:prstGeom prst="roundRect">
            <a:avLst>
              <a:gd name="adj" fmla="val 11111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9933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591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712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transactions.csv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82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schéma explicite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511296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01/01/2024 au 31/12/2025. Trois clés étrangères.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16002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94760" y="1874520"/>
            <a:ext cx="1938528" cy="822960"/>
          </a:xfrm>
          <a:prstGeom prst="roundRect">
            <a:avLst>
              <a:gd name="adj" fmla="val 11111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19933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3591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8712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users.json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3182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un objet par ligne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511296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un champ tableau, géré par un schéma typé.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874520"/>
            <a:ext cx="1938528" cy="822960"/>
          </a:xfrm>
          <a:prstGeom prst="roundRect">
            <a:avLst>
              <a:gd name="adj" fmla="val 11111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9933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3591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8712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products.parquet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182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Parquet, répertoire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511296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fichiers, pas un fichier unique.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5400" y="16002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874520"/>
            <a:ext cx="1938528" cy="822960"/>
          </a:xfrm>
          <a:prstGeom prst="roundRect">
            <a:avLst>
              <a:gd name="adj" fmla="val 11111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9720" y="19933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23591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28712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merchants.csv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318211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schéma inféré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3511296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demandée, puis conversions explicites.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50292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88720" y="5029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chemins proviennent de application.conf. Aucun chemin, aucun seuil et aucun paramètre Spark n'est codé en dur.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médaillon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couches, trois propriétaires, un contrat de données à chaque frontière.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84708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8470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multi format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explicite et typage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FAILFAST sur l'illisible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4041648"/>
            <a:ext cx="2743200" cy="9144"/>
          </a:xfrm>
          <a:prstGeom prst="rect">
            <a:avLst/>
          </a:prstGeom>
          <a:solidFill>
            <a:srgbClr val="E2EAE7"/>
          </a:solidFill>
          <a:ln w="12700">
            <a:solidFill>
              <a:srgbClr val="E2EA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DataIngestion.scala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ABOUTA Eudoxie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87952" y="2999232"/>
            <a:ext cx="292608" cy="292608"/>
          </a:xfrm>
          <a:prstGeom prst="ellipse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87952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16002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84708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18470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Validées et enrichies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Rejets conservés et motivés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expliquées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et UDF temporelle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4041648"/>
            <a:ext cx="2743200" cy="9144"/>
          </a:xfrm>
          <a:prstGeom prst="rect">
            <a:avLst/>
          </a:prstGeom>
          <a:solidFill>
            <a:srgbClr val="E2EAE7"/>
          </a:solidFill>
          <a:ln w="12700">
            <a:solidFill>
              <a:srgbClr val="E2EA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DataValidation · TimeFeatures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ABOUTA Eudoxie et BAMBA Issouf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99832" y="2999232"/>
            <a:ext cx="292608" cy="292608"/>
          </a:xfrm>
          <a:prstGeom prst="ellipse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9832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0" y="16002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184708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métier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Quatorze rapports CSV et Parquet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HTML autonome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par étape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21040" y="4041648"/>
            <a:ext cx="2743200" cy="9144"/>
          </a:xfrm>
          <a:prstGeom prst="rect">
            <a:avLst/>
          </a:prstGeom>
          <a:solidFill>
            <a:srgbClr val="E2EAE7"/>
          </a:solidFill>
          <a:ln w="12700">
            <a:solidFill>
              <a:srgbClr val="E2EA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· DashboardReport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5029200"/>
            <a:ext cx="10515600" cy="960120"/>
          </a:xfrm>
          <a:prstGeom prst="roundRect">
            <a:avLst>
              <a:gd name="adj" fmla="val 11429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88720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transverse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4681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application.conf   ·   cache, persist et broadcast   ·   MainApp : orchestration et chronométrage   ·   Docker et intégration continue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avons travaillé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rôles exclusifs, des fichiers séparés, une relecture croisée obligatoire.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94560" y="1874520"/>
            <a:ext cx="548640" cy="548640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60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ABOUTA Eudoxie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89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et plateforme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325526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1, 2 et 7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657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Relue par Issouf et Josias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1874520"/>
            <a:ext cx="548640" cy="548640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560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Issouf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889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0" y="325526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657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par Eudoxie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18320" y="1874520"/>
            <a:ext cx="548640" cy="548640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183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560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889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 et performance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325526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0" y="3255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4, 5 et 6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657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par Issouf et Eudoxie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448056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97280" y="475488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97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572768" y="475488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par fichier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230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imposée attribue un fichier à un seul propriétaire. Trois personnes travaillent en parallèle sans conflit Git.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48056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83680" y="475488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475488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relecture laisse une trace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5230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est relu par quelqu'un d'autre que son auteur. Date, relecteur et remarques sont dans CONTRIBUTIONS.md.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et typage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ABOUTA Eudoxie · Membre 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typé par source, et une erreur de lecture qui dit laquelle a échoué.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035040" cy="2788920"/>
          </a:xfrm>
          <a:prstGeom prst="roundRect">
            <a:avLst>
              <a:gd name="adj" fmla="val 3279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1783080"/>
            <a:ext cx="55595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transactions(): Dataset[Transaction] = read("transactions")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spark.read.option("header", true).option("mode", "FAILFAST")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.schema(Encoders.product[Transaction].schema)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.csv(path("transactions")).as[Transaction]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class Transaction(transaction_id: String, ...,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Option[Double], timestamp: String, ...)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60020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18745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Option, et non zéro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montant absent reste null jusqu'à la validation. Le remplacer par zéro rendrait le rejet inexplicable.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306324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0" y="333756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73568" y="333756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déclenche la lecture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est paresseux : sans action, une erreur de fichier remonterait au milieu du pipeline.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24871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97280" y="483717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3675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20440" y="4617720"/>
            <a:ext cx="24871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794760" y="483717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53675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24871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92240" y="483717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3675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15400" y="4617720"/>
            <a:ext cx="24871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89720" y="483717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53675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source manquante arrête le pipeline proprement, avec le nom de la source et son chemin dans le message d'erreur.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rapport de qualité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ABOUTA Eudoxie · Membre 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jeux de données par source : les lignes valides, et les rejets qui portent leur motif.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960120" y="1783080"/>
          <a:ext cx="5760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223760" y="1600200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REJETS PAR JEU DE DONNÉES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1 890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332720" y="220370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332720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1,37 %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2615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332720" y="26060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33272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2,88 %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332720" y="300837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332720" y="30083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2,98 %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419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0332720" y="3410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332720" y="3410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2,33 %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orphelines : 400 utilisateurs, 300 produits, 250 marchands.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22960" y="448056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1887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L'égalité que nous savons défendre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49560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  =  1 890 rejets de validation  +  11 406 références non enrichissables  +  124 751 analysées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539496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juge chaque fichier isolément, la jointure écarte ensuite les références absentes ou elles mêmes invalidées.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de qualité affichant zéro pour cent de rejet signalerait une erreur d'implémentation : le sujet garantit la présence d'anomalies.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L'UDF extractTimeFeatures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Issouf · Membre 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de quatorze caractères devient six variables, sans jamais faire tomber le job.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035040" cy="1691640"/>
          </a:xfrm>
          <a:prstGeom prst="roundRect">
            <a:avLst>
              <a:gd name="adj" fmla="val 5405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1783080"/>
            <a:ext cx="5559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udf((s: String) =&gt; parse(s, pattern).map { dt =&gt;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TimeInfo(dt.getHour, jourDeLaSemaine, mois,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estWeekEnd, periodeDeLaJournee, heuresOuvrees)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}.orNull)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6002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18745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par construction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3500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nulle, vide ou mal formée renvoie null. Le 29 février 2025 est rejeté, pas décalé.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333756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0" y="361188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73568" y="361188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assumées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4087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ne dit rien de minuit à six heures : nous classons en Night. L'heure 17 reste ouvrée.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PÉRIODES DE LA JOURNÉE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840480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78992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06h00 – 11h59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86200" y="3840480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142232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142232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12h00 – 17h59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754880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78992" y="4873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5166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18h00 – 21h59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86200" y="4754880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42232" y="4873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42232" y="5166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C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22h00 – 05h59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horodatages sont interprétés en UTC, fuseau fixé dans la configuration pour que le résultat soit identique sur les trois postes.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et fenêtrage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Issouf · Membre 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jours, ce n'est pas sept lignes : la fenêtre porte sur le temps écoulé.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400800" cy="1463040"/>
          </a:xfrm>
          <a:prstGeom prst="roundRect">
            <a:avLst>
              <a:gd name="adj" fmla="val 6250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1783080"/>
            <a:ext cx="5925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rolling = Window.partitionBy("user_id").orderBy("epoch_seconds")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.rangeBetween(-7 * 86400L + 1L, 0L)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size(collect_set(col("transaction_date")).over(rolling))   // jours actifs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6002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18745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rangeBetween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3500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borne est en secondes. Trois achats dans la journée ne font pas sortir les autres.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32004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0" y="34747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34747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distincts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950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collect_set élimine les doublons de date : deux achats le même jour comptent pour un.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246120"/>
            <a:ext cx="64008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97280" y="3456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TRANSACTION ENRICHIE GAGNE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transaction_rank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de l'achat chez ce client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user_transaction_count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d'achats du client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rolling_amount_7d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480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cumulé sur sept jours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active_days_7d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4800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d'achat distincts, et is_active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days_since_previous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5120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depuis l'achat précédent, avec lag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440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5440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Jeune, Adulte, Âge Moyen, Senior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transactions suspectes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Issouf · Membre 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signaux faibles, un seuil de deux : un signal isolé ne condamne personne.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187452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hors norme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500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300 % au dessus du panier moyen historique du client.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187452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nocturne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3500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transaction tombe dans la période Night, entre 22h00 et 05h59.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898648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7280" y="3172968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3172968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484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cinq minutes séparent cet achat du précédent, du même client.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898648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3172968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3172968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crypto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6484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moyen de paiement déclaré est CRYPTO.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3434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97280" y="4562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3 760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093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SIGNALÉES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367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3,01 % du périmètre analysé.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43434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4562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5093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EXIGÉS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5367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est un paramètre de configuration.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55280" y="43434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0" y="4562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5093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ACCUSATION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5367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 oriente un contrôle, il ne conclut pas.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marchand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 · Membre 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d'affaires, fréquentation, commission, et deux classements indépendants.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852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960120" y="1783080"/>
          <a:ext cx="55778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040880" y="1600200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18745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classements, pas un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 par catégorie et par région. Un marchand peut dominer sa région sans dominer sa catégorie.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2971800"/>
            <a:ext cx="4389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0" y="32461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90688" y="324612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par ligne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721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multiplié par le taux du marchand, puis agrégé et arrondi au centime.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4343400"/>
            <a:ext cx="10515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143000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marchand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5371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 225, Electronics, Grand Est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931920" y="489204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568 073,34 EUR sur 366 transactions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uniques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5230368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337, soit un panier moyen de 1 552,11 EUR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5568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perçue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3931920" y="5568696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42 889,54 EUR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Cohortes et rétention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 · Membre 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une génération de clients dans le temps, sans compter un mois non observable.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217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960120" y="1783080"/>
          <a:ext cx="5943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6002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18745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mois de naissance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3500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client appartient au mois de son premier achat. M+0 vaut donc toujours cent pour cent.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06640" y="31546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80960" y="34290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156448" y="3429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évité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9044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cohorte de novembre 2025 n'a pas de M+3 observable. La compter comme un échec fausserait le classement.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480060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4956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RÉTENTION À TROIS MOIS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5248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de juin 2025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5321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clients à l'origine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5321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encore actifs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52120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38,06 %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RFM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 · Membre 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comportement réel confirme le segment déclaré, et signale les exceptions.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7665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960120" y="1783080"/>
          <a:ext cx="6492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863840" y="16002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38160" y="18745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18745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par quintiles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ntile(5) sur récence, fréquence et montant. Égalités ordonnées par identifiant.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0" y="329184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381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613648" y="329184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résultat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3767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 Champions déclarés VIP, 1 160 Perdus déclarés Budget : le comportement valide la segmentation.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63840" y="45720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38160" y="48463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3816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613648" y="4846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exceptions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Budget se comportent en Champions, 2 VIP sont perdus. À traiter en premier.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 et mesure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 Josias · Membre 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broadcast et partitions, mais surtout : ce que la mesure ne prouve pas.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6400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960120" y="1783080"/>
          <a:ext cx="6126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160020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18196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84,84 %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TOTAL OBSERVÉ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0" y="2971800"/>
            <a:ext cx="38404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0" y="324612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32461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activé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721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persist MEMORY_AND_DISK_SER, broadcast des trois référentiels, exécution adaptative, unpersist dans un finally.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89520" y="4206240"/>
            <a:ext cx="38404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0" y="448056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44805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L'honnêteté de la mesure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4956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passage par mode ne sépare pas le cache de l'échauffement JVM. Une étape est plus lente.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étude robuste il faudrait répéter les essais en alternant l'ordre et comparer les médianes. Nous le disons plutôt que de promettre un gain universel.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051560"/>
            <a:ext cx="4434840" cy="4754880"/>
          </a:xfrm>
          <a:prstGeom prst="roundRect">
            <a:avLst>
              <a:gd name="adj" fmla="val 3711"/>
            </a:avLst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43000"/>
            <a:ext cx="384048" cy="384048"/>
          </a:xfrm>
          <a:prstGeom prst="ellipse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11704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publie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propre tableau de bord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B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commande produit les quatorze rapports et, à la racine du répertoire de sortie, une page HTML autonome. Thème clair et thème sombre. Aucun serveur, aucun réseau, aucune valeur saisie à la main.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0F3D33"/>
          </a:solidFill>
          <a:ln w="12700">
            <a:solidFill>
              <a:srgbClr val="0F3D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" y="4754880"/>
            <a:ext cx="5102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--master 'local[2]' --driver-memory 3g \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--class com.ecommerce.analytics.MainApp \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dist/ecommerce-analytics.jar all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124 751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ANALYSÉES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231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49,90 M EUR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136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10 193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UNIQUES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399,98 EUR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9469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3,01 %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5330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SIGNALÉES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rend le projet reproductible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 doit pouvoir rejouer notre pipeline sans nous, et sans configurer son poste.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856232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1837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402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et docker-compose figent Spark 3.5.6, Scala 2.12 et Java 17.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24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run --rm pipeline 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856232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1837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2402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compile, teste et empaquette à chaque push.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624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172968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34290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unifiées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8130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sous Linux et macOS, make.ps1 sous Windows.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1970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test  ·  make run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172968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34290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8130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Vingt cas isolés couvrant les frontières et les règles métier.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1970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target/test-reports/regression.xml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4846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97280" y="5065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DE RÉGRESSION AU VERT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89120" y="4846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663440" y="5065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s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EN LOCAL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55280" y="4846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0" y="5065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CODÉ EN DUR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384048" cy="384048"/>
          </a:xfrm>
          <a:prstGeom prst="ellipse">
            <a:avLst/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ne prétendons pas avoir prouvé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75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692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les limites vaut mieux que les laisser découvrir.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572768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1728216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synthétiques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71907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Générées par le script du sujet. Les conclusions démontrent une méthode.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359152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8992" y="2514600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5054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mesure n'est pas une expérience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50545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passage par mode, sur un poste partagé. Le total est comparable, pas l'effet isolé.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145536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8992" y="3300984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est documenté, pas exécuté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329184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YARN et un exemple de cluster.conf figurent au README.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8992" y="4087368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78992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0782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détection de fraude est pédagogique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407822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règles seuillées ne constituent pas un modèle validé.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4718304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AE7"/>
            </a:solidFill>
            <a:prstDash val="solid"/>
          </a:ln>
          <a:effectLst>
            <a:outerShdw sx="100000" sy="100000" kx="0" ky="0" algn="bl" rotWithShape="0" blurRad="177800" dist="38100" dir="5400000">
              <a:srgbClr val="9FB3AD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78992" y="4873752"/>
            <a:ext cx="365760" cy="365760"/>
          </a:xfrm>
          <a:prstGeom prst="ellipse">
            <a:avLst/>
          </a:prstGeom>
          <a:solidFill>
            <a:srgbClr val="E3F1ED"/>
          </a:solidFill>
          <a:ln w="12700">
            <a:solidFill>
              <a:srgbClr val="E3F1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8992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864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reste à éprouver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486460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Dockerfile s'appuie sur les images officielles, sans construction encore.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semaine de plus : répéter le benchmark en alternant l'ordre, construire l'image Docker, mesurer la couverture avec scoverage.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486400" cy="5486400"/>
          </a:xfrm>
          <a:prstGeom prst="roundRect">
            <a:avLst>
              <a:gd name="adj" fmla="val 20000"/>
            </a:avLst>
          </a:prstGeom>
          <a:solidFill>
            <a:srgbClr val="1B5C4D"/>
          </a:solidFill>
          <a:ln w="12700">
            <a:solidFill>
              <a:srgbClr val="1B5C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3108960" cy="3108960"/>
          </a:xfrm>
          <a:prstGeom prst="ellipse">
            <a:avLst/>
          </a:prstGeom>
          <a:solidFill>
            <a:srgbClr val="2E8B76"/>
          </a:solidFill>
          <a:ln w="12700">
            <a:solidFill>
              <a:srgbClr val="2E8B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VOTRE ATTENTION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280160" cy="41148"/>
          </a:xfrm>
          <a:prstGeom prst="rect">
            <a:avLst/>
          </a:prstGeom>
          <a:solidFill>
            <a:srgbClr val="7FC8B5"/>
          </a:solidFill>
          <a:ln w="12700">
            <a:solidFill>
              <a:srgbClr val="7FC8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75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138 047 lues se reconstituent exactement.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675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publie son tableau de bord.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36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conteneur, CI, seize tests.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343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636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sont écrites, pas dissimulées.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9   ·   ABOUTA Eudoxie   ·   BAMBA Issouf   ·   AHOGA Josias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Data Engineer, Spark et Scala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EcommerceAnalytics, soutenance du Groupe 9</dc:title>
  <dc:subject>PptxGenJS Presentation</dc:subject>
  <dc:creator>Groupe 9 : ABOUTA Eudoxie, BAMBA Issouf, AHOGA Josias</dc:creator>
  <cp:lastModifiedBy>Groupe 9 : ABOUTA Eudoxie, BAMBA Issouf, AHOGA Josias</cp:lastModifiedBy>
  <cp:revision>1</cp:revision>
  <dcterms:created xsi:type="dcterms:W3CDTF">2026-09-04T21:37:37Z</dcterms:created>
  <dcterms:modified xsi:type="dcterms:W3CDTF">2026-09-04T21:37:37Z</dcterms:modified>
</cp:coreProperties>
</file>