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Transactions</c:v>
                </c:pt>
              </c:strCache>
            </c:strRef>
          </c:tx>
          <c:spPr>
            <a:solidFill>
              <a:srgbClr val="2E8B7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11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Analysées</c:v>
                  </c:pt>
                  <c:pt idx="1">
                    <c:v>Valides</c:v>
                  </c:pt>
                  <c:pt idx="2">
                    <c:v>Lues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124751</c:v>
                </c:pt>
                <c:pt idx="1">
                  <c:v>136157</c:v>
                </c:pt>
                <c:pt idx="2">
                  <c:v>138047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6211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5F6B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Chiffre d'affaires</c:v>
                </c:pt>
              </c:strCache>
            </c:strRef>
          </c:tx>
          <c:spPr>
            <a:solidFill>
              <a:srgbClr val="2E8B7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6211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TechStore 112</c:v>
                  </c:pt>
                  <c:pt idx="1">
                    <c:v>ElectroWorld 559</c:v>
                  </c:pt>
                  <c:pt idx="2">
                    <c:v>TechStore 225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468136</c:v>
                </c:pt>
                <c:pt idx="1">
                  <c:v>522206</c:v>
                </c:pt>
                <c:pt idx="2">
                  <c:v>568073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50" u="none">
                  <a:solidFill>
                    <a:srgbClr val="16211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Rétention</c:v>
                </c:pt>
              </c:strCache>
            </c:strRef>
          </c:tx>
          <c:spPr>
            <a:solidFill>
              <a:srgbClr val="2E8B76"/>
            </a:solidFill>
            <a:ln w="38100" cap="flat">
              <a:solidFill>
                <a:srgbClr val="2E8B76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5F6B68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8B76"/>
              </a:solidFill>
              <a:ln w="9525" cap="flat">
                <a:solidFill>
                  <a:srgbClr val="2E8B7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M+0</c:v>
                  </c:pt>
                  <c:pt idx="1">
                    <c:v>M+1</c:v>
                  </c:pt>
                  <c:pt idx="2">
                    <c:v>M+2</c:v>
                  </c:pt>
                  <c:pt idx="3">
                    <c:v>M+3</c:v>
                  </c:pt>
                  <c:pt idx="4">
                    <c:v>M+4</c:v>
                  </c:pt>
                  <c:pt idx="5">
                    <c:v>M+5</c:v>
                  </c:pt>
                  <c:pt idx="6">
                    <c:v>M+6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100</c:v>
                </c:pt>
                <c:pt idx="1">
                  <c:v>61.3</c:v>
                </c:pt>
                <c:pt idx="2">
                  <c:v>48.7</c:v>
                </c:pt>
                <c:pt idx="3">
                  <c:v>38.1</c:v>
                </c:pt>
                <c:pt idx="4">
                  <c:v>33.9</c:v>
                </c:pt>
                <c:pt idx="5">
                  <c:v>30.2</c:v>
                </c:pt>
                <c:pt idx="6">
                  <c:v>27.4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5F6B68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VIP</c:v>
                </c:pt>
              </c:strCache>
            </c:strRef>
          </c:tx>
          <c:spPr>
            <a:solidFill>
              <a:srgbClr val="0F3D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Perdus</c:v>
                  </c:pt>
                  <c:pt idx="1">
                    <c:v>Nouveaux</c:v>
                  </c:pt>
                  <c:pt idx="2">
                    <c:v>À risque</c:v>
                  </c:pt>
                  <c:pt idx="3">
                    <c:v>Clients fidèles</c:v>
                  </c:pt>
                  <c:pt idx="4">
                    <c:v>Champions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18</c:v>
                </c:pt>
                <c:pt idx="2">
                  <c:v>287</c:v>
                </c:pt>
                <c:pt idx="3">
                  <c:v>266</c:v>
                </c:pt>
                <c:pt idx="4">
                  <c:v>451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Premium</c:v>
                </c:pt>
              </c:strCache>
            </c:strRef>
          </c:tx>
          <c:spPr>
            <a:solidFill>
              <a:srgbClr val="2E8B7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Perdus</c:v>
                  </c:pt>
                  <c:pt idx="1">
                    <c:v>Nouveaux</c:v>
                  </c:pt>
                  <c:pt idx="2">
                    <c:v>À risque</c:v>
                  </c:pt>
                  <c:pt idx="3">
                    <c:v>Clients fidèles</c:v>
                  </c:pt>
                  <c:pt idx="4">
                    <c:v>Champions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67</c:v>
                </c:pt>
                <c:pt idx="1">
                  <c:v>146</c:v>
                </c:pt>
                <c:pt idx="2">
                  <c:v>726</c:v>
                </c:pt>
                <c:pt idx="3">
                  <c:v>854</c:v>
                </c:pt>
                <c:pt idx="4">
                  <c:v>613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Standard</c:v>
                </c:pt>
              </c:strCache>
            </c:strRef>
          </c:tx>
          <c:spPr>
            <a:solidFill>
              <a:srgbClr val="7FC8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Perdus</c:v>
                  </c:pt>
                  <c:pt idx="1">
                    <c:v>Nouveaux</c:v>
                  </c:pt>
                  <c:pt idx="2">
                    <c:v>À risque</c:v>
                  </c:pt>
                  <c:pt idx="3">
                    <c:v>Clients fidèles</c:v>
                  </c:pt>
                  <c:pt idx="4">
                    <c:v>Champions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653</c:v>
                </c:pt>
                <c:pt idx="1">
                  <c:v>618</c:v>
                </c:pt>
                <c:pt idx="2">
                  <c:v>866</c:v>
                </c:pt>
                <c:pt idx="3">
                  <c:v>1305</c:v>
                </c:pt>
                <c:pt idx="4">
                  <c:v>272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CDE7D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Perdus</c:v>
                  </c:pt>
                  <c:pt idx="1">
                    <c:v>Nouveaux</c:v>
                  </c:pt>
                  <c:pt idx="2">
                    <c:v>À risque</c:v>
                  </c:pt>
                  <c:pt idx="3">
                    <c:v>Clients fidèles</c:v>
                  </c:pt>
                  <c:pt idx="4">
                    <c:v>Champions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1160</c:v>
                </c:pt>
                <c:pt idx="1">
                  <c:v>724</c:v>
                </c:pt>
                <c:pt idx="2">
                  <c:v>317</c:v>
                </c:pt>
                <c:pt idx="3">
                  <c:v>816</c:v>
                </c:pt>
                <c:pt idx="4">
                  <c:v>32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F6B68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Sans optimisations</c:v>
                </c:pt>
              </c:strCache>
            </c:strRef>
          </c:tx>
          <c:spPr>
            <a:solidFill>
              <a:srgbClr val="7FC8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Ingestion</c:v>
                  </c:pt>
                  <c:pt idx="1">
                    <c:v>Qualité</c:v>
                  </c:pt>
                  <c:pt idx="2">
                    <c:v>Analytique</c:v>
                  </c:pt>
                  <c:pt idx="3">
                    <c:v>Écriture</c:v>
                  </c:pt>
                  <c:pt idx="4">
                    <c:v>Total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15.6</c:v>
                </c:pt>
                <c:pt idx="1">
                  <c:v>13.5</c:v>
                </c:pt>
                <c:pt idx="2">
                  <c:v>95.8</c:v>
                </c:pt>
                <c:pt idx="3">
                  <c:v>364.2</c:v>
                </c:pt>
                <c:pt idx="4">
                  <c:v>498.9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Avec optimisations</c:v>
                </c:pt>
              </c:strCache>
            </c:strRef>
          </c:tx>
          <c:spPr>
            <a:solidFill>
              <a:srgbClr val="1B5C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Ingestion</c:v>
                  </c:pt>
                  <c:pt idx="1">
                    <c:v>Qualité</c:v>
                  </c:pt>
                  <c:pt idx="2">
                    <c:v>Analytique</c:v>
                  </c:pt>
                  <c:pt idx="3">
                    <c:v>Écriture</c:v>
                  </c:pt>
                  <c:pt idx="4">
                    <c:v>Total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0.7</c:v>
                </c:pt>
                <c:pt idx="1">
                  <c:v>6.1</c:v>
                </c:pt>
                <c:pt idx="2">
                  <c:v>22.5</c:v>
                </c:pt>
                <c:pt idx="3">
                  <c:v>31.3</c:v>
                </c:pt>
                <c:pt idx="4">
                  <c:v>75.6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2EA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6A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F6B68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Collectif, 30 secondes. Se presenter, annoncer le plan : contexte, donnees, architecture, puis un expose par membre, puis la demonstration. Preciser d emblee que les donnees sont synthetiques et que la demonstration se termine par un tableau de bord genere par le pipeline lui meme.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Collectif, 45 secondes. Insister : la qualite vient avant le chiffre d affaires. Annoncer l egalite de reconciliation, on la detaille en slide 7 avec le detail des deux notions de rejet.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Collectif, 60 secondes. Montrer que chaque format impose une strategie de lecture differente. Si le jury demande pourquoi les donnees sont hors du JAR : pour rester remplacables et accessibles aux executeurs sur un cluster.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Collectif, 75 secondes. Le vocabulaire Bronze Silver Gold est celui du metier : il rend le lignage lisible sans expliquer Spark. Montrer MainApp : la session est creee une seule fois et finally libere le cache puis arrete Spark meme en cas d echec.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Collectif, 90 secondes. Expliquer les interfaces qui font tenir l ensemble : Sources, ValidationResult et Enrichment. Ce sont ces trois types qui permettent a chacun de travailler sans casser le module du voisin. Mentionner uniquement les relectures reellement effectuees.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Eudoxie, 2 minutes 30. Montrer read, le try catch et le message d erreur contextualise. Expliquer pourquoi users.json est lu avec un schema type plutot qu en inference : le champ preferred_categories est un tableau, l inference sur un fichier partiel donnerait un type instable.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Eudoxie, 2 minutes 30. Ouvrir un CSV de rejets et commenter une ligne reelle. Preciser que les compteurs d orphelins peuvent se recouper : une meme transaction peut pointer vers un utilisateur absent et un produit absent, elle est comptee dans les deux.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Issouf, 1 minute 30. Montrer TimeFeatures.scala. Insister sur orNull : l UDF retourne une structure ou null, elle ne leve jamais d exception. Montrer le test qui verifie les frontieres a 21h59, 22h00 et minuit.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Issouf, 2 minutes. Si le jury demande pourquoi les jointures sont en left : parce qu une reference manquante doit etre expliquee avant d etre exclue, pas supprimee par un inner join silencieux. La verification require(retenues + rejetees == valides) garantit qu aucune ligne n est dupliquee ni perdue.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Issouf, 1 minute 30. Point cle a defendre : la moyenne historique n utilise que les achats strictement anterieurs, sans anticipation. Sans historique, le premier critere ne s active pas, mais les trois autres peuvent suffire. Rappeler que la regle est pedagogique, pas un modele de fraude valide.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Josias, 1 minute 30. Expliquer pourquoi le merchant_id de la transaction fait foi pour le chiffre d affaires, et non celui du catalogue produit : 512 divergences sont signalees par catalog_merchant_mismatch plutot que corrigees en silence.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Josias, 1 minute 30. Expliquer la grille : on genere explicitement les couples cohorte et mois observable, puis on joint l activite en left, et un mois sans achat vaut zero. Sans cette grille, un mois creux disparaitrait au lieu de valoir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Josias, 1 minute 30. Les regles de segmentation sont les notres et sont documentees dans CONTRIBUTIONS.md, dans leur ordre d application. Assumer que Clients fideles est une classe residuelle, c est une convention simplifiee.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Josias, 2 minutes. C est la slide ou l on gagne des points en etant honnete. La transformation est plus lente avec optimisations parce que le cache y materialise un travail que le mode sans repousse plus loin. Nous montrons la mesure telle qu elle 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Collectif, 2 minutes. Lancer la commande, puis ouvrir output/dashboard.html par double clic. Commenter deux resultats metier : la concentration du chiffre d affaires sur les marchands Electronics, et la coherence entre segment RFM calcule et segment declare. Rappeler que la page est regeneree a chaque execution.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Collectif, 90 secondes. Preciser honnetement : la voie Docker est documentee a partir des images officielles Apache Spark et SBT, elle n a pas encore ete executee sur notre poste faute de demon Docker demarre. Le deploiement cluster est de meme documente mais non execute.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Collectif, 60 secondes. Cette slide desamorce la moitie des questions du jury. Annoncer ces limites nous meme vaut mieux que de les subir. Chacune est deja ecrite dans COUVERTURE_SUJET.md, section Limites declarees.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Collectif, puis dix minutes de questions. Rappel important : chaque membre peut etre interroge sur le code d un autre. Reviser en priorite les trois points ecrits par quelqu un d autre que vous : la difference entre les deux notions de rejet, le choix de rangeBetween sur des secondes, et l exclusion des horizons non observables dans la retention.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3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0"/>
            <a:ext cx="4709160" cy="6858000"/>
          </a:xfrm>
          <a:prstGeom prst="roundRect">
            <a:avLst>
              <a:gd name="adj" fmla="val 388"/>
            </a:avLst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83880" y="1371600"/>
            <a:ext cx="3291840" cy="3291840"/>
          </a:xfrm>
          <a:prstGeom prst="roundRect">
            <a:avLst>
              <a:gd name="adj" fmla="val 15278"/>
            </a:avLst>
          </a:prstGeom>
          <a:solidFill>
            <a:srgbClr val="2E8B76"/>
          </a:solidFill>
          <a:ln w="12700">
            <a:solidFill>
              <a:srgbClr val="2E8B7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32520" y="1920240"/>
            <a:ext cx="2194560" cy="2194560"/>
          </a:xfrm>
          <a:prstGeom prst="ellipse">
            <a:avLst/>
          </a:prstGeom>
          <a:solidFill>
            <a:srgbClr val="7FC8B5"/>
          </a:solidFill>
          <a:ln w="12700">
            <a:solidFill>
              <a:srgbClr val="7FC8B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732520" y="22860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F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124 751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8549640" y="279806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analysées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818120" y="50292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Spark 3.5.6   ·   Scala 2.12   ·   Java 17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22960" y="777240"/>
            <a:ext cx="457200" cy="457200"/>
          </a:xfrm>
          <a:prstGeom prst="ellipse">
            <a:avLst/>
          </a:prstGeom>
          <a:solidFill>
            <a:srgbClr val="7FC8B5"/>
          </a:solidFill>
          <a:ln w="12700">
            <a:solidFill>
              <a:srgbClr val="7FC8B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777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444752" y="822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182880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DE DONNÉES</a:t>
            </a:r>
            <a:endParaRPr lang="en-US" sz="4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56032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300" b="1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COMMERCE</a:t>
            </a:r>
            <a:endParaRPr lang="en-US" sz="4300" dirty="0"/>
          </a:p>
        </p:txBody>
      </p:sp>
      <p:sp>
        <p:nvSpPr>
          <p:cNvPr id="13" name="Shape 11"/>
          <p:cNvSpPr/>
          <p:nvPr/>
        </p:nvSpPr>
        <p:spPr>
          <a:xfrm>
            <a:off x="822960" y="3520440"/>
            <a:ext cx="1280160" cy="41148"/>
          </a:xfrm>
          <a:prstGeom prst="rect">
            <a:avLst/>
          </a:prstGeom>
          <a:solidFill>
            <a:srgbClr val="7FC8B5"/>
          </a:solidFill>
          <a:ln w="12700">
            <a:solidFill>
              <a:srgbClr val="7FC8B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74904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BBD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pipeline Spark qui explique ses rejets, mesure la fidélité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BBD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publie lui même son tableau de bord.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22960" y="4709160"/>
            <a:ext cx="310896" cy="310896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709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298448" y="469087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ABOUTA Eudoxie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749040" y="4690872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et plateforme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22960" y="5276088"/>
            <a:ext cx="310896" cy="310896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298448" y="525780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BAMBA Issouf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749040" y="525780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822960" y="5843016"/>
            <a:ext cx="310896" cy="310896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2960" y="58430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298448" y="582472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AHOGA Josias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3749040" y="582472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Analytique et performance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384048" cy="384048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206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problème posé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7315200" y="47548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Collectif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969264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Quatre fichiers hétérogènes, volontairement sales, à transformer en décisions défendables.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1554480"/>
            <a:ext cx="32918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97280" y="182880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572768" y="1828800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un problème de volume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30428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138 047 transactions tiennent sur un poste. Le vrai sujet est la confiance.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89120" y="1554480"/>
            <a:ext cx="32918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63440" y="182880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63440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138928" y="1828800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chiffre faux coûte cher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663440" y="230428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montant invalide fausse le chiffre d'affaires, la commission et le classement.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55280" y="1554480"/>
            <a:ext cx="32918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229600" y="182880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0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705088" y="1828800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principe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230428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ligne ne disparaît en silence. Chaque rejet porte son motif.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2960" y="3520440"/>
            <a:ext cx="32918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1097280" y="373989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138 047</a:t>
            </a:r>
            <a:endParaRPr lang="en-US" sz="26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42702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 LUES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1097280" y="45445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quatre sources réunies, avant tout contrôle.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389120" y="3520440"/>
            <a:ext cx="3291840" cy="1737360"/>
          </a:xfrm>
          <a:prstGeom prst="roundRect">
            <a:avLst>
              <a:gd name="adj" fmla="val 6316"/>
            </a:avLst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663440" y="373989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13 296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4663440" y="42702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 ÉCARTÉES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663440" y="45445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Rejets de validation et références non enrichissables.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955280" y="3520440"/>
            <a:ext cx="3291840" cy="1737360"/>
          </a:xfrm>
          <a:prstGeom prst="roundRect">
            <a:avLst>
              <a:gd name="adj" fmla="val 6316"/>
            </a:avLst>
          </a:prstGeom>
          <a:solidFill>
            <a:srgbClr val="0F3D33"/>
          </a:solidFill>
          <a:ln w="12700">
            <a:solidFill>
              <a:srgbClr val="0F3D3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29600" y="373989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124 751</a:t>
            </a:r>
            <a:endParaRPr lang="en-US" sz="2600" dirty="0"/>
          </a:p>
        </p:txBody>
      </p:sp>
      <p:sp>
        <p:nvSpPr>
          <p:cNvPr id="32" name="Text 30"/>
          <p:cNvSpPr txBox="1"/>
          <p:nvPr/>
        </p:nvSpPr>
        <p:spPr>
          <a:xfrm>
            <a:off x="8229600" y="42702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ANALYSÉES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8229600" y="45445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A9C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périmètre sur lequel repose chaque indicateur.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822960" y="54864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138 047  =  1 890  +  11 406  +  124 751</a:t>
            </a:r>
            <a:endParaRPr lang="en-US" sz="1900" dirty="0"/>
          </a:p>
        </p:txBody>
      </p:sp>
      <p:sp>
        <p:nvSpPr>
          <p:cNvPr id="35" name="Text 33"/>
          <p:cNvSpPr txBox="1"/>
          <p:nvPr/>
        </p:nvSpPr>
        <p:spPr>
          <a:xfrm>
            <a:off x="822960" y="63550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AA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synthétiques générées par le script du sujet. Les conclusions illustrent la méthode, elles ne décrivent pas une entreprise réelle.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384048" cy="384048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206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quatre sources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7315200" y="47548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Collectif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969264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format différent par source : le pipeline doit typer, pas deviner.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1600200"/>
            <a:ext cx="2487168" cy="320040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97280" y="1874520"/>
            <a:ext cx="1938528" cy="822960"/>
          </a:xfrm>
          <a:prstGeom prst="roundRect">
            <a:avLst>
              <a:gd name="adj" fmla="val 11111"/>
            </a:avLst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199339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138 047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359152"/>
            <a:ext cx="1938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871216"/>
            <a:ext cx="1938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transactions.csv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182112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CSV, schéma explicite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511296"/>
            <a:ext cx="19385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01/01/2024 au 31/12/2025. Trois clés étrangères.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520440" y="1600200"/>
            <a:ext cx="2487168" cy="320040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794760" y="1874520"/>
            <a:ext cx="1938528" cy="822960"/>
          </a:xfrm>
          <a:prstGeom prst="roundRect">
            <a:avLst>
              <a:gd name="adj" fmla="val 11111"/>
            </a:avLst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794760" y="199339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12 000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3794760" y="2359152"/>
            <a:ext cx="1938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3794760" y="2871216"/>
            <a:ext cx="1938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users.json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3794760" y="3182112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JSON, un objet par ligne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3794760" y="3511296"/>
            <a:ext cx="19385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Contient un champ tableau, géré par un schéma typé.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17920" y="1600200"/>
            <a:ext cx="2487168" cy="320040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92240" y="1874520"/>
            <a:ext cx="1938528" cy="822960"/>
          </a:xfrm>
          <a:prstGeom prst="roundRect">
            <a:avLst>
              <a:gd name="adj" fmla="val 11111"/>
            </a:avLst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92240" y="199339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6 000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6492240" y="2359152"/>
            <a:ext cx="1938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492240" y="2871216"/>
            <a:ext cx="1938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products.parquet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3182112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Parquet, répertoire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3511296"/>
            <a:ext cx="19385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Douze fichiers, pas un fichier unique.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915400" y="1600200"/>
            <a:ext cx="2487168" cy="320040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189720" y="1874520"/>
            <a:ext cx="1938528" cy="822960"/>
          </a:xfrm>
          <a:prstGeom prst="roundRect">
            <a:avLst>
              <a:gd name="adj" fmla="val 11111"/>
            </a:avLst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89720" y="199339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9189720" y="2359152"/>
            <a:ext cx="1938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9189720" y="2871216"/>
            <a:ext cx="1938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merchants.csv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9189720" y="3182112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CSV, schéma inféré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9189720" y="3511296"/>
            <a:ext cx="19385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Inférence demandée, puis conversions explicites.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22960" y="5029200"/>
            <a:ext cx="10515600" cy="777240"/>
          </a:xfrm>
          <a:prstGeom prst="roundRect">
            <a:avLst>
              <a:gd name="adj" fmla="val 14118"/>
            </a:avLst>
          </a:prstGeom>
          <a:solidFill>
            <a:srgbClr val="0F3D33"/>
          </a:solidFill>
          <a:ln w="12700">
            <a:solidFill>
              <a:srgbClr val="0F3D3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188720" y="5029200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Tous les chemins proviennent de application.conf. Aucun chemin, aucun seuil et aucun paramètre Spark n'est codé en dur.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384048" cy="384048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206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en médaillon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7315200" y="47548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Collectif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969264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couches, trois propriétaires, un contrat de données à chaque frontière.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1600200"/>
            <a:ext cx="329184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97280" y="184708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18470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2677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brutes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7432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multi format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Schéma explicite et typage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FAILFAST sur l'illisible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1097280" y="4041648"/>
            <a:ext cx="2743200" cy="9144"/>
          </a:xfrm>
          <a:prstGeom prst="rect">
            <a:avLst/>
          </a:prstGeom>
          <a:solidFill>
            <a:srgbClr val="E2EAE7"/>
          </a:solidFill>
          <a:ln w="12700">
            <a:solidFill>
              <a:srgbClr val="E2EA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160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8B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DataIngestion.scala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434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ABOUTA Eudoxie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187952" y="2999232"/>
            <a:ext cx="292608" cy="292608"/>
          </a:xfrm>
          <a:prstGeom prst="ellipse">
            <a:avLst/>
          </a:prstGeom>
          <a:solidFill>
            <a:srgbClr val="7FC8B5"/>
          </a:solidFill>
          <a:ln w="12700">
            <a:solidFill>
              <a:srgbClr val="7FC8B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187952" y="2999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434840" y="1600200"/>
            <a:ext cx="329184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09160" y="184708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709160" y="18470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709160" y="22677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Validées et enrichies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4709160" y="27432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Rejets conservés et motivés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Jointures expliquées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Fenêtres et UDF temporelle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709160" y="4041648"/>
            <a:ext cx="2743200" cy="9144"/>
          </a:xfrm>
          <a:prstGeom prst="rect">
            <a:avLst/>
          </a:prstGeom>
          <a:solidFill>
            <a:srgbClr val="E2EAE7"/>
          </a:solidFill>
          <a:ln w="12700">
            <a:solidFill>
              <a:srgbClr val="E2EAE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09160" y="4160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8B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DataValidation · TimeFeatures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4709160" y="4434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ABOUTA Eudoxie et BAMBA Issouf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799832" y="2999232"/>
            <a:ext cx="292608" cy="292608"/>
          </a:xfrm>
          <a:prstGeom prst="ellipse">
            <a:avLst/>
          </a:prstGeom>
          <a:solidFill>
            <a:srgbClr val="7FC8B5"/>
          </a:solidFill>
          <a:ln w="12700">
            <a:solidFill>
              <a:srgbClr val="7FC8B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799832" y="2999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046720" y="1600200"/>
            <a:ext cx="329184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321040" y="184708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321040" y="18470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321040" y="22677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Rapports métier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27432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Quatorze rapports CSV et Parquet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de bord HTML autonome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Durées par étape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8321040" y="4041648"/>
            <a:ext cx="2743200" cy="9144"/>
          </a:xfrm>
          <a:prstGeom prst="rect">
            <a:avLst/>
          </a:prstGeom>
          <a:solidFill>
            <a:srgbClr val="E2EAE7"/>
          </a:solidFill>
          <a:ln w="12700">
            <a:solidFill>
              <a:srgbClr val="E2EAE7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321040" y="4160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8B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Analytics · DashboardReport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4434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AHOGA Josias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822960" y="5029200"/>
            <a:ext cx="10515600" cy="960120"/>
          </a:xfrm>
          <a:prstGeom prst="roundRect">
            <a:avLst>
              <a:gd name="adj" fmla="val 11429"/>
            </a:avLst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188720" y="51755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Socle transverse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1188720" y="5468112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application.conf   ·   cache, persist et broadcast   ·   MainApp : orchestration et chronométrage   ·   Docker et intégration continue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384048" cy="384048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206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nous avons travaillé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7315200" y="47548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Collectif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969264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rôles exclusifs, des fichiers séparés, une relecture croisée obligatoire.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1600200"/>
            <a:ext cx="329184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194560" y="1874520"/>
            <a:ext cx="548640" cy="548640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194560" y="1874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2560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ABOUTA Eudoxie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8950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et plateforme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737360" y="3255264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737360" y="325526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Parties 1, 2 et 7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65760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Relue par Issouf et Josias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434840" y="1600200"/>
            <a:ext cx="329184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806440" y="1874520"/>
            <a:ext cx="548640" cy="548640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806440" y="1874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663440" y="2560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BAMBA Issouf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663440" y="288950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349240" y="3255264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49240" y="325526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3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663440" y="365760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Relu par Eudoxie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046720" y="1600200"/>
            <a:ext cx="329184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418320" y="1874520"/>
            <a:ext cx="548640" cy="548640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418320" y="1874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8275320" y="2560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AHOGA Josias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275320" y="288950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Analytique et performance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961120" y="3255264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961120" y="325526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Parties 4, 5 et 6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8275320" y="365760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Relu par Issouf et Eudoxie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22960" y="4480560"/>
            <a:ext cx="51206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097280" y="475488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97280" y="4754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1572768" y="4754880"/>
            <a:ext cx="4096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Séparation par fichier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97280" y="52303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structure imposée attribue un fichier à un seul propriétaire. Trois personnes travaillent en parallèle sans conflit Git.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309360" y="4480560"/>
            <a:ext cx="51206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583680" y="475488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583680" y="4754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4754880"/>
            <a:ext cx="4096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relecture laisse une trace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0" y="52303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module est relu par quelqu'un d'autre que son auteur. Date, relecteur et remarques sont dans CONTRIBUTIONS.md.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384048" cy="384048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206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et typage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7315200" y="47548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ABOUTA Eudoxie · Membre A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969264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Dataset typé par source, et une erreur de lecture qui dit laquelle a échoué.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1600200"/>
            <a:ext cx="6035040" cy="2788920"/>
          </a:xfrm>
          <a:prstGeom prst="roundRect">
            <a:avLst>
              <a:gd name="adj" fmla="val 3279"/>
            </a:avLst>
          </a:prstGeom>
          <a:solidFill>
            <a:srgbClr val="0F3D33"/>
          </a:solidFill>
          <a:ln w="12700">
            <a:solidFill>
              <a:srgbClr val="0F3D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60704" y="1783080"/>
            <a:ext cx="5559552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E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transactions(): Dataset[Transaction] = read("transactions") {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E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spark.read.option("header", true).option("mode", "FAILFAST")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E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.schema(Encoders.product[Transaction].schema)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E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.csv(path("transactions")).as[Transaction]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E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E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 class Transaction(transaction_id: String, ...,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E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amount: Option[Double], timestamp: String, ...)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223760" y="1600200"/>
            <a:ext cx="42062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498080" y="187452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9808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973568" y="1874520"/>
            <a:ext cx="3182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Option, et non zéro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498080" y="23500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montant absent reste null jusqu'à la validation. Le remplacer par zéro rendrait le rejet inexplicable.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223760" y="3063240"/>
            <a:ext cx="42062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498080" y="333756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98080" y="3337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973568" y="3337560"/>
            <a:ext cx="3182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déclenche la lecture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498080" y="3813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est paresseux : sans action, une erreur de fichier remonterait au milieu du pipeline.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2960" y="4617720"/>
            <a:ext cx="248716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1097280" y="4837176"/>
            <a:ext cx="193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138 047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5367528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520440" y="4617720"/>
            <a:ext cx="248716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3794760" y="4837176"/>
            <a:ext cx="193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12 000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3794760" y="5367528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UTILISATEURS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217920" y="4617720"/>
            <a:ext cx="248716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492240" y="4837176"/>
            <a:ext cx="193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6 000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5367528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PRODUITS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915400" y="4617720"/>
            <a:ext cx="248716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9189720" y="4837176"/>
            <a:ext cx="193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9189720" y="5367528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MARCHANDS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822960" y="63550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AA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source manquante arrête le pipeline proprement, avec le nom de la source et son chemin dans le message d'erreur.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384048" cy="384048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206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et rapport de qualité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7315200" y="47548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ABOUTA Eudoxie · Membre A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969264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jeux de données par source : les lignes valides, et les rejets qui portent leur motif.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1600200"/>
            <a:ext cx="603504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graphicFrame>
        <p:nvGraphicFramePr>
          <p:cNvPr id="8" name="Chart 0" descr=""/>
          <p:cNvGraphicFramePr/>
          <p:nvPr/>
        </p:nvGraphicFramePr>
        <p:xfrm>
          <a:off x="960120" y="1783080"/>
          <a:ext cx="576072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7223760" y="1600200"/>
            <a:ext cx="420624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498080" y="1828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REJETS PAR JEU DE DONNÉES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7498080" y="221284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1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transactions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9235440" y="22128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1 890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10332720" y="2203704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332720" y="220370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1,37 %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7498080" y="261518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1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users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235440" y="26151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345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10332720" y="260604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332720" y="26060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2,88 %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7498080" y="30175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1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products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9235440" y="3017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179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10332720" y="300837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332720" y="30083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2,98 %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7498080" y="341985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1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merchants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235440" y="34198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10332720" y="34107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332720" y="34107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2,33 %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7498080" y="38587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Références orphelines : 400 utilisateurs, 300 produits, 250 marchands.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822960" y="4480560"/>
            <a:ext cx="10515600" cy="1371600"/>
          </a:xfrm>
          <a:prstGeom prst="roundRect">
            <a:avLst>
              <a:gd name="adj" fmla="val 8000"/>
            </a:avLst>
          </a:prstGeom>
          <a:solidFill>
            <a:srgbClr val="0F3D33"/>
          </a:solidFill>
          <a:ln w="12700">
            <a:solidFill>
              <a:srgbClr val="0F3D33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188720" y="46451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L'égalité que nous savons défendre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1188720" y="4956048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138 047  =  1 890 rejets de validation  +  11 406 références non enrichissables  +  124 751 analysées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1188720" y="539496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C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validation juge chaque fichier isolément, la jointure écarte ensuite les références absentes ou elles mêmes invalidées.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22960" y="63550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AA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rapport de qualité affichant zéro pour cent de rejet signalerait une erreur d'implémentation : le sujet garantit la présence d'anomalies.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384048" cy="384048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206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L'UDF extractTimeFeatures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7315200" y="47548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BAMBA Issouf · Membre B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969264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chaîne de quatorze caractères devient six variables, sans jamais faire tomber le job.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1600200"/>
            <a:ext cx="6035040" cy="1691640"/>
          </a:xfrm>
          <a:prstGeom prst="roundRect">
            <a:avLst>
              <a:gd name="adj" fmla="val 5405"/>
            </a:avLst>
          </a:prstGeom>
          <a:solidFill>
            <a:srgbClr val="0F3D33"/>
          </a:solidFill>
          <a:ln w="12700">
            <a:solidFill>
              <a:srgbClr val="0F3D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60704" y="1783080"/>
            <a:ext cx="555955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E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udf((s: String) =&gt; parse(s, pattern).map { dt =&gt;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E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TimeInfo(dt.getHour, jourDeLaSemaine, mois,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E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estWeekEnd, periodeDeLaJournee, heuresOuvrees)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E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}.orNull)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223760" y="1600200"/>
            <a:ext cx="4206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498080" y="187452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9808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973568" y="1874520"/>
            <a:ext cx="3182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Robuste par construction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498080" y="2350008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chaîne nulle, vide ou mal formée renvoie null. Le 29 février 2025 est rejeté, pas décalé.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223760" y="3337560"/>
            <a:ext cx="4206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498080" y="361188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98080" y="3611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973568" y="3611880"/>
            <a:ext cx="3182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Conventions assumées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498080" y="4087368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sujet ne dit rien de minuit à six heures : nous classons en Night. L'heure 17 reste ouvrée.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3474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QUATRE PÉRIODES DE LA JOURNÉE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22960" y="3840480"/>
            <a:ext cx="28346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1078992" y="39593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Morning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78992" y="425196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06h00 – 11h59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886200" y="3840480"/>
            <a:ext cx="28346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4142232" y="39593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Afternoon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142232" y="425196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12h00 – 17h59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22960" y="4754880"/>
            <a:ext cx="28346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1078992" y="48737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Evening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78992" y="516636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18h00 – 21h59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886200" y="4754880"/>
            <a:ext cx="2834640" cy="777240"/>
          </a:xfrm>
          <a:prstGeom prst="roundRect">
            <a:avLst>
              <a:gd name="adj" fmla="val 14118"/>
            </a:avLst>
          </a:prstGeom>
          <a:solidFill>
            <a:srgbClr val="0F3D33"/>
          </a:solidFill>
          <a:ln w="12700">
            <a:solidFill>
              <a:srgbClr val="0F3D3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142232" y="48737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4142232" y="516636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FC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22h00 – 05h59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822960" y="63550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AA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horodatages sont interprétés en UTC, fuseau fixé dans la configuration pour que le résultat soit identique sur les trois postes.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384048" cy="384048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206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Enrichissement et fenêtrage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7315200" y="47548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BAMBA Issouf · Membre B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969264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 jours, ce n'est pas sept lignes : la fenêtre porte sur le temps écoulé.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160020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0F3D33"/>
          </a:solidFill>
          <a:ln w="12700">
            <a:solidFill>
              <a:srgbClr val="0F3D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60704" y="1783080"/>
            <a:ext cx="59253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E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 rolling = Window.partitionBy("user_id").orderBy("epoch_seconds")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E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.rangeBetween(-7 * 86400L + 1L, 0L)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E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size(collect_set(col("transaction_date")).over(rolling))   // jours actifs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589520" y="1600200"/>
            <a:ext cx="384048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863840" y="187452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339328" y="1874520"/>
            <a:ext cx="2816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rangeBetween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863840" y="235000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borne est en secondes. Trois achats dans la journée ne font pas sortir les autres.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589520" y="3200400"/>
            <a:ext cx="384048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863840" y="347472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63840" y="3474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339328" y="3474720"/>
            <a:ext cx="2816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Jours distincts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863840" y="395020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collect_set élimine les doublons de date : deux achats le même jour comptent pour un.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2960" y="3246120"/>
            <a:ext cx="64008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1097280" y="345643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LA TRANSACTION ENRICHIE GAGNE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8404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8B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transaction_rank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3840480" y="384048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 de l'achat chez ce client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097280" y="416052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8B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user_transaction_count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3840480" y="416052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total d'achats du client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1097280" y="448056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8B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rolling_amount_7d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3840480" y="448056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 cumulé sur sept jours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097280" y="48006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8B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active_days_7d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3840480" y="480060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Jours d'achat distincts, et is_active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1097280" y="51206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8B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days_since_previous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3840480" y="51206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Délai depuis l'achat précédent, avec lag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1097280" y="54406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8B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age_group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3840480" y="544068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Jeune, Adulte, Âge Moyen, Senior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384048" cy="384048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206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de transactions suspectes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7315200" y="47548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BAMBA Issouf · Membre B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969264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Quatre signaux faibles, un seuil de deux : un signal isolé ne condamne personne.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1600200"/>
            <a:ext cx="521208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97280" y="187452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572768" y="1874520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 hors norme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350008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de 300 % au dessus du panier moyen historique du client.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09360" y="1600200"/>
            <a:ext cx="521208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583680" y="187452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059168" y="1874520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Achat nocturne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2350008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transaction tombe dans la période Night, entre 22h00 et 05h59.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22960" y="2898648"/>
            <a:ext cx="521208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1097280" y="3172968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7280" y="3172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3172968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Rafale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64845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Moins de cinq minutes séparent cet achat du précédent, du même client.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309360" y="2898648"/>
            <a:ext cx="521208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583680" y="3172968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83680" y="3172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3172968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Paiement en crypto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0" y="364845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moyen de paiement déclaré est CRYPTO.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22960" y="43434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1097280" y="456285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3 760</a:t>
            </a:r>
            <a:endParaRPr lang="en-US" sz="2400" dirty="0"/>
          </a:p>
        </p:txBody>
      </p:sp>
      <p:sp>
        <p:nvSpPr>
          <p:cNvPr id="29" name="Text 27"/>
          <p:cNvSpPr txBox="1"/>
          <p:nvPr/>
        </p:nvSpPr>
        <p:spPr>
          <a:xfrm>
            <a:off x="1097280" y="5093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SIGNALÉES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1097280" y="53675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Soit 3,01 % du périmètre analysé.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389120" y="43434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663440" y="456285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2</a:t>
            </a:r>
            <a:endParaRPr lang="en-US" sz="2400" dirty="0"/>
          </a:p>
        </p:txBody>
      </p:sp>
      <p:sp>
        <p:nvSpPr>
          <p:cNvPr id="33" name="Text 31"/>
          <p:cNvSpPr txBox="1"/>
          <p:nvPr/>
        </p:nvSpPr>
        <p:spPr>
          <a:xfrm>
            <a:off x="4663440" y="5093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SIGNAUX EXIGÉS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4663440" y="53675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seuil est un paramètre de configuration.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7955280" y="43434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0F3D33"/>
          </a:solidFill>
          <a:ln w="12700">
            <a:solidFill>
              <a:srgbClr val="0F3D3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229600" y="456285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400" dirty="0"/>
          </a:p>
        </p:txBody>
      </p:sp>
      <p:sp>
        <p:nvSpPr>
          <p:cNvPr id="37" name="Text 35"/>
          <p:cNvSpPr txBox="1"/>
          <p:nvPr/>
        </p:nvSpPr>
        <p:spPr>
          <a:xfrm>
            <a:off x="8229600" y="5093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ACCUSATION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53675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A9C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signal oriente un contrôle, il ne conclut pas.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384048" cy="384048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206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par marchand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7315200" y="47548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AHOGA Josias · Membre C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969264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Chiffre d'affaires, fréquentation, commission, et deux classements indépendants.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1600200"/>
            <a:ext cx="585216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graphicFrame>
        <p:nvGraphicFramePr>
          <p:cNvPr id="8" name="Chart 0" descr=""/>
          <p:cNvGraphicFramePr/>
          <p:nvPr/>
        </p:nvGraphicFramePr>
        <p:xfrm>
          <a:off x="960120" y="1783080"/>
          <a:ext cx="557784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7040880" y="1600200"/>
            <a:ext cx="438912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0" y="187452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790688" y="1874520"/>
            <a:ext cx="3364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classements, pas un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0" y="23500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dense_rank par catégorie et par région. Un marchand peut dominer sa région sans dominer sa catégorie.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040880" y="2971800"/>
            <a:ext cx="438912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7315200" y="324612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15200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790688" y="3246120"/>
            <a:ext cx="3364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par ligne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0" y="37216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 multiplié par le taux du marchand, puis agrégé et arrondi au centime.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22960" y="4343400"/>
            <a:ext cx="1051560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1143000" y="455371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 marchand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3931920" y="4553712"/>
            <a:ext cx="7086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TechStore 225, Electronics, Grand Est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1143000" y="48920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Chiffre d'affaires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3931920" y="4892040"/>
            <a:ext cx="7086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568 073,34 EUR sur 366 transactions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1143000" y="523036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uniques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3931920" y="5230368"/>
            <a:ext cx="7086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337, soit un panier moyen de 1 552,11 EUR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1143000" y="55686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perçue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3931920" y="5568696"/>
            <a:ext cx="7086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42 889,54 EUR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384048" cy="384048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206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Cohortes et rétention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7315200" y="47548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AHOGA Josias · Membre C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969264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Suivre une génération de clients dans le temps, sans compter un mois non observable.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1600200"/>
            <a:ext cx="621792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graphicFrame>
        <p:nvGraphicFramePr>
          <p:cNvPr id="8" name="Chart 0" descr=""/>
          <p:cNvGraphicFramePr/>
          <p:nvPr/>
        </p:nvGraphicFramePr>
        <p:xfrm>
          <a:off x="960120" y="1783080"/>
          <a:ext cx="594360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7406640" y="1600200"/>
            <a:ext cx="40233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680960" y="187452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8096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156448" y="1874520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mois de naissance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680960" y="235000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client appartient au mois de son premier achat. M+0 vaut donc toujours cent pour cent.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406640" y="3154680"/>
            <a:ext cx="402336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7680960" y="342900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68096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156448" y="3429000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piège évité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680960" y="3904488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cohorte de novembre 2025 n'a pas de M+3 observable. La compter comme un échec fausserait le classement.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22960" y="4800600"/>
            <a:ext cx="10515600" cy="1143000"/>
          </a:xfrm>
          <a:prstGeom prst="roundRect">
            <a:avLst>
              <a:gd name="adj" fmla="val 9600"/>
            </a:avLst>
          </a:prstGeom>
          <a:solidFill>
            <a:srgbClr val="0F3D33"/>
          </a:solidFill>
          <a:ln w="12700">
            <a:solidFill>
              <a:srgbClr val="0F3D3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188720" y="49560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MEILLEURE RÉTENTION À TROIS MOIS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1188720" y="524865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Cohorte de juin 2025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5120640" y="53218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310 clients à l'origine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7589520" y="532180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118 encore actifs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9326880" y="521208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38,06 %</a:t>
            </a:r>
            <a:endParaRPr lang="en-US" sz="2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384048" cy="384048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206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RFM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7315200" y="47548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AHOGA Josias · Membre C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969264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comportement réel confirme le segment déclaré, et signale les exceptions.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1600200"/>
            <a:ext cx="676656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graphicFrame>
        <p:nvGraphicFramePr>
          <p:cNvPr id="8" name="Chart 0" descr=""/>
          <p:cNvGraphicFramePr/>
          <p:nvPr/>
        </p:nvGraphicFramePr>
        <p:xfrm>
          <a:off x="960120" y="1783080"/>
          <a:ext cx="64922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7863840" y="160020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138160" y="187452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13816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613648" y="1874520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par quintiles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138160" y="23500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ntile(5) sur récence, fréquence et montant. Égalités ordonnées par identifiant.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863840" y="301752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138160" y="329184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13816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613648" y="3291840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vrai résultat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138160" y="376732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451 Champions déclarés VIP, 1 160 Perdus déclarés Budget : le comportement valide la segmentation.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863840" y="457200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138160" y="484632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138160" y="4846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613648" y="4846320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exceptions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138160" y="53218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Budget se comportent en Champions, 2 VIP sont perdus. À traiter en premier.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384048" cy="384048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206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Optimisations et mesure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7315200" y="47548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AHOGA Josias · Membre C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969264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Cache, broadcast et partitions, mais surtout : ce que la mesure ne prouve pas.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1600200"/>
            <a:ext cx="640080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graphicFrame>
        <p:nvGraphicFramePr>
          <p:cNvPr id="8" name="Chart 0" descr=""/>
          <p:cNvGraphicFramePr/>
          <p:nvPr/>
        </p:nvGraphicFramePr>
        <p:xfrm>
          <a:off x="960120" y="1783080"/>
          <a:ext cx="61264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7589520" y="1600200"/>
            <a:ext cx="3840480" cy="1234440"/>
          </a:xfrm>
          <a:prstGeom prst="roundRect">
            <a:avLst>
              <a:gd name="adj" fmla="val 8889"/>
            </a:avLst>
          </a:prstGeom>
          <a:solidFill>
            <a:srgbClr val="0F3D33"/>
          </a:solidFill>
          <a:ln w="12700">
            <a:solidFill>
              <a:srgbClr val="0F3D3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863840" y="1819656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84,84 %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7863840" y="23500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ÉCART TOTAL OBSERVÉ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589520" y="2971800"/>
            <a:ext cx="384048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863840" y="324612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863840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339328" y="3246120"/>
            <a:ext cx="2816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nous avons activé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3721608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cache, persist MEMORY_AND_DISK_SER, broadcast des marchands, unpersist dans un finally.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589520" y="4206240"/>
            <a:ext cx="384048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863840" y="448056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863840" y="4480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339328" y="4480560"/>
            <a:ext cx="2816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L'honnêteté de la mesure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4956048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passage par mode ne sépare pas le cache de l'échauffement JVM. Une étape est plus lente.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" y="63550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AA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une étude robuste il faudrait répéter les essais en alternant l'ordre et comparer les médianes. Nous le disons plutôt que de promettre un gain universel.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3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1051560"/>
            <a:ext cx="4434840" cy="4754880"/>
          </a:xfrm>
          <a:prstGeom prst="roundRect">
            <a:avLst>
              <a:gd name="adj" fmla="val 3711"/>
            </a:avLst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143000"/>
            <a:ext cx="384048" cy="384048"/>
          </a:xfrm>
          <a:prstGeom prst="ellipse">
            <a:avLst/>
          </a:prstGeom>
          <a:solidFill>
            <a:srgbClr val="7FC8B5"/>
          </a:solidFill>
          <a:ln w="12700">
            <a:solidFill>
              <a:srgbClr val="7FC8B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1170432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78308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pipeline publie</a:t>
            </a:r>
            <a:endParaRPr lang="en-US" sz="32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propre tableau de bord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91840"/>
            <a:ext cx="5577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BBD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commande produit les quatorze rapports et, à la racine du répertoire de sortie, une page HTML autonome. Thème clair et thème sombre. Aucun serveur, aucun réseau, aucune valeur saisie à la main.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22960" y="4572000"/>
            <a:ext cx="5577840" cy="960120"/>
          </a:xfrm>
          <a:prstGeom prst="roundRect">
            <a:avLst>
              <a:gd name="adj" fmla="val 9524"/>
            </a:avLst>
          </a:prstGeom>
          <a:solidFill>
            <a:srgbClr val="0F3D33"/>
          </a:solidFill>
          <a:ln w="12700">
            <a:solidFill>
              <a:srgbClr val="0F3D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60704" y="4754880"/>
            <a:ext cx="5102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E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spark-submit --master 'local[2]' --driver-memory 3g \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E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--class com.ecommerce.analytics.MainApp \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E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dist/ecommerce-analytics.jar all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360920" y="13258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124 751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7360920" y="17099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ANALYSÉES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7360920" y="223113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49,90 M EUR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7360920" y="261518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CHIFFRE D'AFFAIRES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7360920" y="313639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10 193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7360920" y="35204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UNIQUES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7360920" y="404164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399,98 EUR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7360920" y="442569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PANIER MOYEN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7360920" y="494690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3,01 %</a:t>
            </a:r>
            <a:endParaRPr lang="en-US" sz="2100" dirty="0"/>
          </a:p>
        </p:txBody>
      </p:sp>
      <p:sp>
        <p:nvSpPr>
          <p:cNvPr id="19" name="Text 17"/>
          <p:cNvSpPr txBox="1"/>
          <p:nvPr/>
        </p:nvSpPr>
        <p:spPr>
          <a:xfrm>
            <a:off x="7360920" y="5330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SIGNALÉES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384048" cy="384048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206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rend le projet reproductible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7315200" y="47548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Collectif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969264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tiers doit pouvoir rejouer notre pipeline sans nous, et sans configurer son poste.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1600200"/>
            <a:ext cx="52120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97280" y="1856232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1856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572768" y="183794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Conteneur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24028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Dockerfile et docker-compose figent Spark 3.5.6, Scala 2.12 et Java 17.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62432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8B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run --rm pipeline all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09360" y="1600200"/>
            <a:ext cx="52120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583680" y="1856232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0" y="1856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059168" y="183794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 continue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6583680" y="224028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compile, teste et empaquette à chaque push.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583680" y="262432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8B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.github/workflows/ci.yml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22960" y="3172968"/>
            <a:ext cx="52120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097280" y="342900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9728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572768" y="3410712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Commandes unifiées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1097280" y="3813048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Makefile sous Linux et macOS, make.ps1 sous Windows.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419709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8B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make test  ·  make run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09360" y="3172968"/>
            <a:ext cx="52120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583680" y="342900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58368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059168" y="3410712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Régression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6583680" y="3813048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Seize cas isolés couvrant les frontières et les règles métier.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6583680" y="419709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8B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target/test-reports/regression.xml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22960" y="4846320"/>
            <a:ext cx="32918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1097280" y="506577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16</a:t>
            </a:r>
            <a:endParaRPr lang="en-US" sz="2100" dirty="0"/>
          </a:p>
        </p:txBody>
      </p:sp>
      <p:sp>
        <p:nvSpPr>
          <p:cNvPr id="33" name="Text 31"/>
          <p:cNvSpPr txBox="1"/>
          <p:nvPr/>
        </p:nvSpPr>
        <p:spPr>
          <a:xfrm>
            <a:off x="1097280" y="55961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DE RÉGRESSION AU VERT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4389120" y="4846320"/>
            <a:ext cx="32918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4663440" y="506577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143 s</a:t>
            </a:r>
            <a:endParaRPr lang="en-US" sz="2100" dirty="0"/>
          </a:p>
        </p:txBody>
      </p:sp>
      <p:sp>
        <p:nvSpPr>
          <p:cNvPr id="36" name="Text 34"/>
          <p:cNvSpPr txBox="1"/>
          <p:nvPr/>
        </p:nvSpPr>
        <p:spPr>
          <a:xfrm>
            <a:off x="4663440" y="55961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COMPLET EN LOCAL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7955280" y="4846320"/>
            <a:ext cx="3291840" cy="1005840"/>
          </a:xfrm>
          <a:prstGeom prst="roundRect">
            <a:avLst>
              <a:gd name="adj" fmla="val 10909"/>
            </a:avLst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229600" y="506577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1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0" y="55961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CHEMIN CODÉ EN DUR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384048" cy="384048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206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nous ne prétendons pas avoir prouvé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7315200" y="47548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Collectif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969264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Déclarer les limites vaut mieux que les laisser découvrir.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1572768"/>
            <a:ext cx="10515600" cy="67665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78992" y="1728216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78992" y="1728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17190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données sont synthétiques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760720" y="1719072"/>
            <a:ext cx="5257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Générées par le script du sujet. Les conclusions démontrent une méthode.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2960" y="2359152"/>
            <a:ext cx="10515600" cy="67665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1078992" y="251460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8992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600200" y="2505456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mesure n'est pas une expérience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0" y="2505456"/>
            <a:ext cx="5257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passage par mode, sur un poste partagé. Le total est comparable, pas l'effet isolé.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22960" y="3145536"/>
            <a:ext cx="10515600" cy="67665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1078992" y="3300984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78992" y="33009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600200" y="32918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cluster est documenté, pas exécuté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760720" y="3291840"/>
            <a:ext cx="5257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commande YARN et un exemple de cluster.conf figurent au README.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22960" y="3931920"/>
            <a:ext cx="10515600" cy="67665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1078992" y="4087368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78992" y="40873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1600200" y="407822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détection de fraude est pédagogique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760720" y="4078224"/>
            <a:ext cx="5257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Quatre règles seuillées ne constituent pas un modèle validé.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22960" y="4718304"/>
            <a:ext cx="10515600" cy="67665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1078992" y="4873752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78992" y="4873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1600200" y="486460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conteneur reste à éprouver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760720" y="4864608"/>
            <a:ext cx="5257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Dockerfile s'appuie sur les images officielles, sans construction encore.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822960" y="57150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Avec une semaine de plus : répéter le benchmark en alternant l'ordre, construire l'image Docker, mesurer la couverture avec scoverage.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3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097280"/>
            <a:ext cx="5486400" cy="5486400"/>
          </a:xfrm>
          <a:prstGeom prst="roundRect">
            <a:avLst>
              <a:gd name="adj" fmla="val 20000"/>
            </a:avLst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4206240"/>
            <a:ext cx="3108960" cy="3108960"/>
          </a:xfrm>
          <a:prstGeom prst="ellipse">
            <a:avLst/>
          </a:prstGeom>
          <a:solidFill>
            <a:srgbClr val="2E8B76"/>
          </a:solidFill>
          <a:ln w="12700">
            <a:solidFill>
              <a:srgbClr val="2E8B7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</a:t>
            </a:r>
            <a:endParaRPr lang="en-US" sz="5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150" kern="0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VOTRE ATTENTION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3017520"/>
            <a:ext cx="1280160" cy="41148"/>
          </a:xfrm>
          <a:prstGeom prst="rect">
            <a:avLst/>
          </a:prstGeom>
          <a:solidFill>
            <a:srgbClr val="7FC8B5"/>
          </a:solidFill>
          <a:ln w="12700">
            <a:solidFill>
              <a:srgbClr val="7FC8B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38328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Traçabilité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67588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FB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138 047 lues se reconstituent exactement.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4389120" y="338328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Restitution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389120" y="367588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FB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pipeline publie son tableau de bord.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3434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Reproductibilité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63600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FB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Configuration, conteneur, CI, seize tests.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389120" y="43434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Honnêteté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389120" y="463600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FB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limites sont écrites, pas dissimulées.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56692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 9   ·   ABOUTA Eudoxie   ·   BAMBA Issouf   ·   AHOGA Josias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Data Engineer, Spark et Scala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EcommerceAnalytics, soutenance du Groupe 9</dc:title>
  <dc:subject>PptxGenJS Presentation</dc:subject>
  <dc:creator>Groupe 9 : ABOUTA Eudoxie, BAMBA Issouf, AHOGA Josias</dc:creator>
  <cp:lastModifiedBy>Groupe 9 : ABOUTA Eudoxie, BAMBA Issouf, AHOGA Josias</cp:lastModifiedBy>
  <cp:revision>1</cp:revision>
  <dcterms:created xsi:type="dcterms:W3CDTF">2026-09-03T09:07:13Z</dcterms:created>
  <dcterms:modified xsi:type="dcterms:W3CDTF">2026-09-03T09:07:13Z</dcterms:modified>
</cp:coreProperties>
</file>